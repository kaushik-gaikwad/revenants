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4DE4A-7C9C-40E9-A0A9-37BB3E1FC96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ECADE-1FF9-4EA8-BAA2-3EF6BB58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0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audiences, one message: the same conversation gives members a lighter workflow, managers earlier visibility, institutions auditable execution, and the system a clean technical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ECADE-1FF9-4EA8-BAA2-3EF6BB58FD3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102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pitch: ReVenants turns real team conversations in Telegram into auditable project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project status is scattered and managers chase it manually. Idea: let people report in the channel they already use. Solution: Claude classifies each reply and the system records it as auditable status. The chat example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 left to right: team member replies in Telegram, the bot hands it to the coordinator engine, Claude classifies it, the result is stored in Supabase and shown on the dashboard. Security: auth + RBAC, database RLS, audit logs and rate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challenges: the live path depends on credentials, and security (webhooks, auth, RLS) needs deployment validation. The roadmap grouping is a proposed sequence of the planned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885470" y="5017013"/>
            <a:ext cx="8515985" cy="38100"/>
          </a:xfrm>
          <a:custGeom>
            <a:avLst/>
            <a:gdLst/>
            <a:ahLst/>
            <a:cxnLst/>
            <a:rect l="l" t="t" r="r" b="b"/>
            <a:pathLst>
              <a:path w="8515985" h="38100">
                <a:moveTo>
                  <a:pt x="8515479" y="19102"/>
                </a:moveTo>
                <a:lnTo>
                  <a:pt x="4103556" y="37955"/>
                </a:lnTo>
                <a:lnTo>
                  <a:pt x="0" y="19112"/>
                </a:lnTo>
                <a:lnTo>
                  <a:pt x="4513018" y="0"/>
                </a:lnTo>
                <a:lnTo>
                  <a:pt x="8515479" y="19102"/>
                </a:lnTo>
                <a:close/>
              </a:path>
            </a:pathLst>
          </a:custGeom>
          <a:solidFill>
            <a:srgbClr val="FFC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3745" y="2944629"/>
            <a:ext cx="7300415" cy="29464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3745" y="8338565"/>
            <a:ext cx="7300415" cy="2946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42934" y="416997"/>
            <a:ext cx="6943725" cy="560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25.png"/><Relationship Id="rId8" Type="http://schemas.openxmlformats.org/officeDocument/2006/relationships/image" Target="../media/image15.png"/><Relationship Id="rId9" Type="http://schemas.openxmlformats.org/officeDocument/2006/relationships/image" Target="../media/image21.png"/><Relationship Id="rId10" Type="http://schemas.openxmlformats.org/officeDocument/2006/relationships/image" Target="../media/image24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30.png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9616" y="2400676"/>
            <a:ext cx="528891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latin typeface="Century"/>
                <a:cs typeface="Century"/>
              </a:rPr>
              <a:t>THE</a:t>
            </a:r>
            <a:r>
              <a:rPr sz="1800" spc="-10" dirty="0">
                <a:latin typeface="Century"/>
                <a:cs typeface="Century"/>
              </a:rPr>
              <a:t> </a:t>
            </a:r>
            <a:r>
              <a:rPr sz="1800" dirty="0">
                <a:latin typeface="Century"/>
                <a:cs typeface="Century"/>
              </a:rPr>
              <a:t>BATTLE</a:t>
            </a:r>
            <a:r>
              <a:rPr sz="1800" spc="-10" dirty="0">
                <a:latin typeface="Century"/>
                <a:cs typeface="Century"/>
              </a:rPr>
              <a:t> </a:t>
            </a:r>
            <a:r>
              <a:rPr sz="1800" dirty="0">
                <a:latin typeface="Century"/>
                <a:cs typeface="Century"/>
              </a:rPr>
              <a:t>WITH</a:t>
            </a:r>
            <a:r>
              <a:rPr sz="1800" spc="-10" dirty="0">
                <a:latin typeface="Century"/>
                <a:cs typeface="Century"/>
              </a:rPr>
              <a:t> INFINITE POSSIBILITIES</a:t>
            </a:r>
            <a:endParaRPr sz="1800">
              <a:latin typeface="Century"/>
              <a:cs typeface="Century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3002960"/>
            <a:ext cx="1828800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algn="ctr">
              <a:lnSpc>
                <a:spcPct val="100000"/>
              </a:lnSpc>
              <a:spcBef>
                <a:spcPts val="100"/>
              </a:spcBef>
            </a:pPr>
            <a:r>
              <a:rPr lang="en-IN" sz="9200" spc="1430" dirty="0" err="1">
                <a:solidFill>
                  <a:srgbClr val="732017"/>
                </a:solidFill>
                <a:latin typeface="Baskerville Old Face"/>
                <a:ea typeface="Baskerville Old Face"/>
                <a:cs typeface="Baskerville Old Face"/>
              </a:rPr>
              <a:t>ReVenants</a:t>
            </a:r>
            <a:endParaRPr sz="9200" dirty="0">
              <a:latin typeface="Baskerville Old Face" panose="02020602080505020303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7600" y="4526280"/>
            <a:ext cx="10972800" cy="7540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algn="ctr">
              <a:lnSpc>
                <a:spcPct val="100000"/>
              </a:lnSpc>
              <a:spcBef>
                <a:spcPts val="120"/>
              </a:spcBef>
              <a:buNone/>
            </a:pPr>
            <a:r>
              <a:rPr lang="en-US" sz="2400" spc="-10" dirty="0">
                <a:latin typeface="Century"/>
                <a:ea typeface="Century"/>
                <a:cs typeface="Century"/>
              </a:rPr>
              <a:t>AI-powered project coordination through real conversations</a:t>
            </a:r>
            <a:endParaRPr lang="en-US" sz="2400" dirty="0">
              <a:latin typeface="Century"/>
              <a:ea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7440" y="5715000"/>
            <a:ext cx="3931920" cy="12426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lang="en-US" sz="2800" b="1" spc="-40" dirty="0">
                <a:solidFill>
                  <a:srgbClr val="732017"/>
                </a:solidFill>
                <a:latin typeface="Book Antiqua"/>
                <a:cs typeface="Book Antiqua"/>
              </a:rPr>
              <a:t>Team - </a:t>
            </a:r>
            <a:r>
              <a:rPr lang="en-US" sz="2800" b="1" spc="-40" dirty="0" err="1">
                <a:solidFill>
                  <a:srgbClr val="732017"/>
                </a:solidFill>
                <a:latin typeface="Book Antiqua"/>
                <a:cs typeface="Book Antiqua"/>
              </a:rPr>
              <a:t>ReVenants</a:t>
            </a:r>
            <a:endParaRPr sz="280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21440" y="5715000"/>
            <a:ext cx="5303520" cy="24077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lang="en-IN" sz="2450" b="1" spc="-10" dirty="0">
                <a:solidFill>
                  <a:srgbClr val="732017"/>
                </a:solidFill>
                <a:latin typeface="Book Antiqua"/>
                <a:cs typeface="Book Antiqua"/>
              </a:rPr>
              <a:t>INSTITUTION-</a:t>
            </a:r>
          </a:p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lang="en-US" sz="2450" dirty="0" err="1">
                <a:latin typeface="Book Antiqua" panose="02040602050305030304" pitchFamily="18" charset="0"/>
                <a:cs typeface="Times New Roman" panose="02020603050405020304" pitchFamily="18" charset="0"/>
              </a:rPr>
              <a:t>Dnyaan</a:t>
            </a:r>
            <a:r>
              <a:rPr lang="en-US" sz="2450" dirty="0">
                <a:latin typeface="Book Antiqua" panose="02040602050305030304" pitchFamily="18" charset="0"/>
                <a:cs typeface="Times New Roman" panose="02020603050405020304" pitchFamily="18" charset="0"/>
              </a:rPr>
              <a:t> Prasad Global University, School of Technology and Research</a:t>
            </a:r>
          </a:p>
          <a:p>
            <a:pPr marL="12700">
              <a:lnSpc>
                <a:spcPct val="150000"/>
              </a:lnSpc>
              <a:spcBef>
                <a:spcPts val="110"/>
              </a:spcBef>
            </a:pPr>
            <a:endParaRPr sz="2450" dirty="0">
              <a:latin typeface="Book Antiqua"/>
              <a:cs typeface="Book Antiqua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D9ED8C2B-0500-4455-FB63-5AEB9366E725}"/>
              </a:ext>
            </a:extLst>
          </p:cNvPr>
          <p:cNvSpPr txBox="1"/>
          <p:nvPr/>
        </p:nvSpPr>
        <p:spPr>
          <a:xfrm>
            <a:off x="6583680" y="5715000"/>
            <a:ext cx="4572000" cy="22590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lang="en-US" sz="2450" b="1" spc="-40" dirty="0">
                <a:solidFill>
                  <a:srgbClr val="732017"/>
                </a:solidFill>
                <a:latin typeface="Book Antiqua"/>
                <a:cs typeface="Book Antiqua"/>
              </a:rPr>
              <a:t>Team Members-</a:t>
            </a:r>
          </a:p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lang="en-US" sz="2450" dirty="0">
                <a:latin typeface="Book Antiqua"/>
                <a:cs typeface="Book Antiqua"/>
              </a:rPr>
              <a:t>Kaushik Gaikwad</a:t>
            </a:r>
          </a:p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lang="en-US" sz="2450" dirty="0">
                <a:latin typeface="Book Antiqua"/>
                <a:cs typeface="Book Antiqua"/>
              </a:rPr>
              <a:t>Chaitanya </a:t>
            </a:r>
            <a:r>
              <a:rPr lang="en-US" sz="2450" dirty="0" err="1">
                <a:latin typeface="Book Antiqua"/>
                <a:cs typeface="Book Antiqua"/>
              </a:rPr>
              <a:t>Walunjkar</a:t>
            </a:r>
            <a:endParaRPr lang="en-US" sz="2450" dirty="0">
              <a:latin typeface="Book Antiqua"/>
              <a:cs typeface="Book Antiqua"/>
            </a:endParaRPr>
          </a:p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lang="en-US" sz="2450" dirty="0">
                <a:latin typeface="Book Antiqua"/>
                <a:cs typeface="Book Antiqua"/>
              </a:rPr>
              <a:t>Ratnadip </a:t>
            </a:r>
            <a:r>
              <a:rPr lang="en-US" sz="2450" dirty="0" err="1">
                <a:latin typeface="Book Antiqua"/>
                <a:cs typeface="Book Antiqua"/>
              </a:rPr>
              <a:t>Kakade</a:t>
            </a:r>
            <a:endParaRPr sz="2450" dirty="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sp>
          <p:nvSpPr>
            <p:cNvPr id="3" name="object 3"/>
            <p:cNvSpPr/>
            <p:nvPr/>
          </p:nvSpPr>
          <p:spPr>
            <a:xfrm>
              <a:off x="57627" y="0"/>
              <a:ext cx="18185765" cy="10287000"/>
            </a:xfrm>
            <a:custGeom>
              <a:avLst/>
              <a:gdLst/>
              <a:ahLst/>
              <a:cxnLst/>
              <a:rect l="l" t="t" r="r" b="b"/>
              <a:pathLst>
                <a:path w="18185765" h="10287000">
                  <a:moveTo>
                    <a:pt x="0" y="10287000"/>
                  </a:moveTo>
                  <a:lnTo>
                    <a:pt x="18185689" y="10287000"/>
                  </a:lnTo>
                  <a:lnTo>
                    <a:pt x="18185689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627" cy="10287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43317" y="0"/>
              <a:ext cx="44684" cy="10287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6" y="0"/>
              <a:ext cx="18281223" cy="98928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8397"/>
              <a:ext cx="18288009" cy="15247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8282" y="141729"/>
              <a:ext cx="3648059" cy="1219198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286000" y="416997"/>
            <a:ext cx="11887200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algn="ctr">
              <a:lnSpc>
                <a:spcPct val="100000"/>
              </a:lnSpc>
              <a:spcBef>
                <a:spcPts val="125"/>
              </a:spcBef>
            </a:pPr>
            <a:r>
              <a:rPr spc="335" dirty="0">
                <a:solidFill>
                  <a:srgbClr val="FFFF00"/>
                </a:solidFill>
                <a:latin typeface="Baskerville Old Face" panose="02020602080505020303" pitchFamily="18" charset="0"/>
              </a:rPr>
              <a:t>IDEA / SOLUTION / PROTOTYPE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9696991"/>
            <a:ext cx="18288635" cy="590550"/>
            <a:chOff x="0" y="9696991"/>
            <a:chExt cx="18288635" cy="59055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9823186"/>
              <a:ext cx="18288000" cy="3474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76" y="9892862"/>
              <a:ext cx="18281650" cy="394335"/>
            </a:xfrm>
            <a:custGeom>
              <a:avLst/>
              <a:gdLst/>
              <a:ahLst/>
              <a:cxnLst/>
              <a:rect l="l" t="t" r="r" b="b"/>
              <a:pathLst>
                <a:path w="18281650" h="394334">
                  <a:moveTo>
                    <a:pt x="18281232" y="394124"/>
                  </a:moveTo>
                  <a:lnTo>
                    <a:pt x="0" y="394124"/>
                  </a:lnTo>
                  <a:lnTo>
                    <a:pt x="0" y="0"/>
                  </a:lnTo>
                  <a:lnTo>
                    <a:pt x="18281232" y="0"/>
                  </a:lnTo>
                  <a:lnTo>
                    <a:pt x="18281232" y="394124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4797" y="9696991"/>
              <a:ext cx="1274467" cy="38861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75223" y="10001012"/>
            <a:ext cx="365760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0"/>
              </a:lnSpc>
            </a:pPr>
            <a:r>
              <a:rPr sz="1600" b="1" spc="150" dirty="0">
                <a:latin typeface="Calibri"/>
                <a:cs typeface="Calibri"/>
              </a:rPr>
              <a:t>REVENANTS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52018" y="9976353"/>
            <a:ext cx="3962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150" b="1" spc="340" dirty="0">
                <a:latin typeface="Calibri"/>
                <a:cs typeface="Calibri"/>
              </a:rPr>
              <a:t>02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" name="Card THE PROBLEM"/>
          <p:cNvSpPr/>
          <p:nvPr/>
        </p:nvSpPr>
        <p:spPr>
          <a:xfrm>
            <a:off x="822960" y="1783080"/>
            <a:ext cx="5257800" cy="260604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circle"/>
          <p:cNvSpPr/>
          <p:nvPr/>
        </p:nvSpPr>
        <p:spPr>
          <a:xfrm>
            <a:off x="1097280" y="2057400"/>
            <a:ext cx="731520" cy="73152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aExclamationTriang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0160" y="2240280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011680" y="2057400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B8862B"/>
                </a:solidFill>
                <a:latin typeface="Calibri"/>
              </a:rPr>
              <a:t>THE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718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732017"/>
                </a:solidFill>
                <a:latin typeface="Calibri"/>
              </a:rPr>
              <a:t>Status lives in scattered chats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20439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A241A"/>
                </a:solidFill>
                <a:latin typeface="Calibri"/>
              </a:rPr>
              <a:t>Managers chase updates by hand, and blocked work surfaces too late.</a:t>
            </a:r>
          </a:p>
        </p:txBody>
      </p:sp>
      <p:sp>
        <p:nvSpPr>
          <p:cNvPr id="22" name="Card OUR IDEA"/>
          <p:cNvSpPr/>
          <p:nvPr/>
        </p:nvSpPr>
        <p:spPr>
          <a:xfrm>
            <a:off x="6515100" y="1783080"/>
            <a:ext cx="5257800" cy="260604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Icon circle"/>
          <p:cNvSpPr/>
          <p:nvPr/>
        </p:nvSpPr>
        <p:spPr>
          <a:xfrm>
            <a:off x="6789420" y="2057400"/>
            <a:ext cx="731520" cy="73152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FaLightbul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300" y="224028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03820" y="2057400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B8862B"/>
                </a:solidFill>
                <a:latin typeface="Calibri"/>
              </a:rPr>
              <a:t>OUR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9420" y="29718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732017"/>
                </a:solidFill>
                <a:latin typeface="Calibri"/>
              </a:rPr>
              <a:t>Coordinate through conversation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9420" y="3520439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A241A"/>
                </a:solidFill>
                <a:latin typeface="Calibri"/>
              </a:rPr>
              <a:t>Team members just reply in Telegram. No second task tool to maintain.</a:t>
            </a:r>
          </a:p>
        </p:txBody>
      </p:sp>
      <p:sp>
        <p:nvSpPr>
          <p:cNvPr id="28" name="Card THE SOLUTION"/>
          <p:cNvSpPr/>
          <p:nvPr/>
        </p:nvSpPr>
        <p:spPr>
          <a:xfrm>
            <a:off x="12207240" y="1783080"/>
            <a:ext cx="5257800" cy="260604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 circle"/>
          <p:cNvSpPr/>
          <p:nvPr/>
        </p:nvSpPr>
        <p:spPr>
          <a:xfrm>
            <a:off x="12481560" y="2057400"/>
            <a:ext cx="731520" cy="73152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FaRobo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64440" y="2240280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395960" y="2057400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B8862B"/>
                </a:solidFill>
                <a:latin typeface="Calibri"/>
              </a:rPr>
              <a:t>THE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81560" y="29718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732017"/>
                </a:solidFill>
                <a:latin typeface="Calibri"/>
              </a:rPr>
              <a:t>AI turns replies into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81560" y="3520439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A241A"/>
                </a:solidFill>
                <a:latin typeface="Calibri"/>
              </a:rPr>
              <a:t>Claude reads each reply: completed, blocked, or needs clarification.</a:t>
            </a:r>
          </a:p>
        </p:txBody>
      </p:sp>
      <p:sp>
        <p:nvSpPr>
          <p:cNvPr id="34" name="Conversation panel"/>
          <p:cNvSpPr/>
          <p:nvPr/>
        </p:nvSpPr>
        <p:spPr>
          <a:xfrm>
            <a:off x="822960" y="4663440"/>
            <a:ext cx="8869680" cy="4800600"/>
          </a:xfrm>
          <a:prstGeom prst="roundRect">
            <a:avLst>
              <a:gd name="adj" fmla="val 8000"/>
            </a:avLst>
          </a:prstGeom>
          <a:solidFill>
            <a:srgbClr val="F6E6C8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86460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32017"/>
                </a:solidFill>
                <a:latin typeface="Calibri"/>
              </a:rPr>
              <a:t>From message to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864607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i="1">
                <a:solidFill>
                  <a:srgbClr val="B8862B"/>
                </a:solidFill>
                <a:latin typeface="Calibri"/>
              </a:rPr>
              <a:t>Illustrative example</a:t>
            </a:r>
          </a:p>
        </p:txBody>
      </p:sp>
      <p:sp>
        <p:nvSpPr>
          <p:cNvPr id="37" name="Bot bubble"/>
          <p:cNvSpPr/>
          <p:nvPr/>
        </p:nvSpPr>
        <p:spPr>
          <a:xfrm>
            <a:off x="1097280" y="5532120"/>
            <a:ext cx="603504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532120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3A241A"/>
                </a:solidFill>
                <a:latin typeface="Calibri"/>
              </a:rPr>
              <a:t>“Any update on ‘Login screen’?”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623620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862B"/>
                </a:solidFill>
                <a:latin typeface="Calibri"/>
              </a:rPr>
              <a:t>Telegram bot</a:t>
            </a:r>
          </a:p>
        </p:txBody>
      </p:sp>
      <p:sp>
        <p:nvSpPr>
          <p:cNvPr id="40" name="Member bubble"/>
          <p:cNvSpPr/>
          <p:nvPr/>
        </p:nvSpPr>
        <p:spPr>
          <a:xfrm>
            <a:off x="3200400" y="6583679"/>
            <a:ext cx="6217920" cy="685800"/>
          </a:xfrm>
          <a:prstGeom prst="roundRect">
            <a:avLst>
              <a:gd name="adj" fmla="val 30000"/>
            </a:avLst>
          </a:prstGeom>
          <a:solidFill>
            <a:srgbClr val="FBE3A8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6583679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3A241A"/>
                </a:solidFill>
                <a:latin typeface="Calibri"/>
              </a:rPr>
              <a:t>“Stuck. Still waiting on DB access.”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72877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8862B"/>
                </a:solidFill>
                <a:latin typeface="Calibri"/>
              </a:rPr>
              <a:t>Team member</a:t>
            </a:r>
          </a:p>
        </p:txBody>
      </p:sp>
      <p:sp>
        <p:nvSpPr>
          <p:cNvPr id="43" name="Decision card"/>
          <p:cNvSpPr/>
          <p:nvPr/>
        </p:nvSpPr>
        <p:spPr>
          <a:xfrm>
            <a:off x="1097280" y="7680959"/>
            <a:ext cx="83210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3201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Status chip"/>
          <p:cNvSpPr/>
          <p:nvPr/>
        </p:nvSpPr>
        <p:spPr>
          <a:xfrm>
            <a:off x="1371600" y="7973567"/>
            <a:ext cx="1737360" cy="548640"/>
          </a:xfrm>
          <a:prstGeom prst="roundRect">
            <a:avLst>
              <a:gd name="adj" fmla="val 30000"/>
            </a:avLst>
          </a:prstGeom>
          <a:solidFill>
            <a:srgbClr val="A82A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7973567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BLOCKED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781812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732017"/>
                </a:solidFill>
                <a:latin typeface="Calibri"/>
              </a:rPr>
              <a:t>Reason: </a:t>
            </a:r>
            <a:r>
              <a:rPr sz="1800" b="0" i="0">
                <a:solidFill>
                  <a:srgbClr val="3A241A"/>
                </a:solidFill>
                <a:latin typeface="Calibri"/>
              </a:rPr>
              <a:t>waiting on DB access</a:t>
            </a:r>
          </a:p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Original message saved to status history; dashboard refreshes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663440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32017"/>
                </a:solidFill>
                <a:latin typeface="Calibri"/>
              </a:rPr>
              <a:t>Prototype modules</a:t>
            </a:r>
          </a:p>
        </p:txBody>
      </p:sp>
      <p:sp>
        <p:nvSpPr>
          <p:cNvPr id="48" name="Module 1"/>
          <p:cNvSpPr/>
          <p:nvPr/>
        </p:nvSpPr>
        <p:spPr>
          <a:xfrm>
            <a:off x="10058400" y="534924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Icon circle"/>
          <p:cNvSpPr/>
          <p:nvPr/>
        </p:nvSpPr>
        <p:spPr>
          <a:xfrm>
            <a:off x="10287000" y="5495544"/>
            <a:ext cx="621792" cy="621792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FaTelegramPla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2448" y="5650992"/>
            <a:ext cx="310896" cy="3108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55680" y="5440679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732017"/>
                </a:solidFill>
                <a:latin typeface="Calibri"/>
              </a:rPr>
              <a:t>Telegram bot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5824727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Follow-ups out, natural replies in</a:t>
            </a:r>
          </a:p>
        </p:txBody>
      </p:sp>
      <p:sp>
        <p:nvSpPr>
          <p:cNvPr id="53" name="Module 2"/>
          <p:cNvSpPr/>
          <p:nvPr/>
        </p:nvSpPr>
        <p:spPr>
          <a:xfrm>
            <a:off x="10058400" y="640080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Icon circle"/>
          <p:cNvSpPr/>
          <p:nvPr/>
        </p:nvSpPr>
        <p:spPr>
          <a:xfrm>
            <a:off x="10287000" y="6547104"/>
            <a:ext cx="621792" cy="621792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FaProjectDiagra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2448" y="6702552"/>
            <a:ext cx="310896" cy="31089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155680" y="6492240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732017"/>
                </a:solidFill>
                <a:latin typeface="Calibri"/>
              </a:rPr>
              <a:t>Coordinator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876288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Applies status rules to each reply</a:t>
            </a:r>
          </a:p>
        </p:txBody>
      </p:sp>
      <p:sp>
        <p:nvSpPr>
          <p:cNvPr id="58" name="Module 3"/>
          <p:cNvSpPr/>
          <p:nvPr/>
        </p:nvSpPr>
        <p:spPr>
          <a:xfrm>
            <a:off x="10058400" y="7452359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Icon circle"/>
          <p:cNvSpPr/>
          <p:nvPr/>
        </p:nvSpPr>
        <p:spPr>
          <a:xfrm>
            <a:off x="10287000" y="7598663"/>
            <a:ext cx="621792" cy="621792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FaData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42448" y="7754111"/>
            <a:ext cx="310896" cy="31089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155680" y="7543799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732017"/>
                </a:solidFill>
                <a:latin typeface="Calibri"/>
              </a:rPr>
              <a:t>Supabase data 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7927847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Tasks, messages and status history</a:t>
            </a:r>
          </a:p>
        </p:txBody>
      </p:sp>
      <p:sp>
        <p:nvSpPr>
          <p:cNvPr id="63" name="Module 4"/>
          <p:cNvSpPr/>
          <p:nvPr/>
        </p:nvSpPr>
        <p:spPr>
          <a:xfrm>
            <a:off x="10058400" y="8503919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Icon circle"/>
          <p:cNvSpPr/>
          <p:nvPr/>
        </p:nvSpPr>
        <p:spPr>
          <a:xfrm>
            <a:off x="10287000" y="8650224"/>
            <a:ext cx="621792" cy="621792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FaDeskto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42448" y="8805672"/>
            <a:ext cx="310896" cy="31089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155680" y="8595359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732017"/>
                </a:solidFill>
                <a:latin typeface="Calibri"/>
              </a:rPr>
              <a:t>React dashboard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8979407"/>
            <a:ext cx="6126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Task board, history, progress and blockers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70" y="0"/>
            <a:ext cx="18237835" cy="10287000"/>
          </a:xfrm>
          <a:custGeom>
            <a:avLst/>
            <a:gdLst/>
            <a:ahLst/>
            <a:cxnLst/>
            <a:rect l="l" t="t" r="r" b="b"/>
            <a:pathLst>
              <a:path w="18237835" h="10287000">
                <a:moveTo>
                  <a:pt x="0" y="10287000"/>
                </a:moveTo>
                <a:lnTo>
                  <a:pt x="18237229" y="10287000"/>
                </a:lnTo>
                <a:lnTo>
                  <a:pt x="18237229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F4DF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9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9874483"/>
              <a:ext cx="18288000" cy="412750"/>
            </a:xfrm>
            <a:custGeom>
              <a:avLst/>
              <a:gdLst/>
              <a:ahLst/>
              <a:cxnLst/>
              <a:rect l="l" t="t" r="r" b="b"/>
              <a:pathLst>
                <a:path w="18288000" h="412750">
                  <a:moveTo>
                    <a:pt x="18287561" y="0"/>
                  </a:moveTo>
                  <a:lnTo>
                    <a:pt x="18287561" y="412522"/>
                  </a:lnTo>
                  <a:lnTo>
                    <a:pt x="0" y="412522"/>
                  </a:lnTo>
                  <a:lnTo>
                    <a:pt x="0" y="0"/>
                  </a:lnTo>
                  <a:lnTo>
                    <a:pt x="18287561" y="0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9" cy="98744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8000" cy="152472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8007" y="9678594"/>
              <a:ext cx="1274490" cy="388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1516" y="123332"/>
              <a:ext cx="3648059" cy="1219198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286000" y="416997"/>
            <a:ext cx="11887200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algn="ctr">
              <a:lnSpc>
                <a:spcPct val="100000"/>
              </a:lnSpc>
              <a:spcBef>
                <a:spcPts val="125"/>
              </a:spcBef>
            </a:pPr>
            <a:r>
              <a:rPr spc="475" dirty="0">
                <a:solidFill>
                  <a:srgbClr val="FFFF00"/>
                </a:solidFill>
                <a:latin typeface="Baskerville Old Face" panose="02020602080505020303" pitchFamily="18" charset="0"/>
              </a:rPr>
              <a:t>TECHNICAL APPROACH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68448" y="9982613"/>
            <a:ext cx="365760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0"/>
              </a:lnSpc>
            </a:pPr>
            <a:r>
              <a:rPr sz="1600" b="1" spc="150" dirty="0">
                <a:latin typeface="Calibri"/>
                <a:cs typeface="Calibri"/>
              </a:rPr>
              <a:t>REVENANTS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45242" y="9957955"/>
            <a:ext cx="3962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150" b="1" spc="340" dirty="0">
                <a:latin typeface="Calibri"/>
                <a:cs typeface="Calibri"/>
              </a:rPr>
              <a:t>03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732017"/>
                </a:solidFill>
                <a:latin typeface="Calibri"/>
              </a:rPr>
              <a:t>Tech stack</a:t>
            </a:r>
          </a:p>
        </p:txBody>
      </p:sp>
      <p:sp>
        <p:nvSpPr>
          <p:cNvPr id="14" name="Stack card 1"/>
          <p:cNvSpPr/>
          <p:nvPr/>
        </p:nvSpPr>
        <p:spPr>
          <a:xfrm>
            <a:off x="822960" y="251460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circle"/>
          <p:cNvSpPr/>
          <p:nvPr/>
        </p:nvSpPr>
        <p:spPr>
          <a:xfrm>
            <a:off x="1051560" y="2715768"/>
            <a:ext cx="566928" cy="566928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a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292" y="2857500"/>
            <a:ext cx="283464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83080" y="2715768"/>
            <a:ext cx="28803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1 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35204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React dashboard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Task board • History view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Progress and blockers</a:t>
            </a:r>
          </a:p>
        </p:txBody>
      </p:sp>
      <p:sp>
        <p:nvSpPr>
          <p:cNvPr id="19" name="Stack card 2"/>
          <p:cNvSpPr/>
          <p:nvPr/>
        </p:nvSpPr>
        <p:spPr>
          <a:xfrm>
            <a:off x="5074920" y="251460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circle"/>
          <p:cNvSpPr/>
          <p:nvPr/>
        </p:nvSpPr>
        <p:spPr>
          <a:xfrm>
            <a:off x="5303520" y="2715768"/>
            <a:ext cx="566928" cy="566928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5252" y="2857500"/>
            <a:ext cx="283464" cy="2834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0" y="2715768"/>
            <a:ext cx="28803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2 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474720"/>
            <a:ext cx="35204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TanStack Start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REST APIs • Webhooks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Status rules</a:t>
            </a:r>
          </a:p>
        </p:txBody>
      </p:sp>
      <p:sp>
        <p:nvSpPr>
          <p:cNvPr id="24" name="Stack card 3"/>
          <p:cNvSpPr/>
          <p:nvPr/>
        </p:nvSpPr>
        <p:spPr>
          <a:xfrm>
            <a:off x="822960" y="489204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 circle"/>
          <p:cNvSpPr/>
          <p:nvPr/>
        </p:nvSpPr>
        <p:spPr>
          <a:xfrm>
            <a:off x="1051560" y="5093207"/>
            <a:ext cx="566928" cy="566928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FaRo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3292" y="5234940"/>
            <a:ext cx="283464" cy="2834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83080" y="5093207"/>
            <a:ext cx="28803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3  AI +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52159"/>
            <a:ext cx="35204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Claude reply classification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Blocker extraction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Clarification prompts</a:t>
            </a:r>
          </a:p>
        </p:txBody>
      </p:sp>
      <p:sp>
        <p:nvSpPr>
          <p:cNvPr id="29" name="Stack card 4"/>
          <p:cNvSpPr/>
          <p:nvPr/>
        </p:nvSpPr>
        <p:spPr>
          <a:xfrm>
            <a:off x="5074920" y="489204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con circle"/>
          <p:cNvSpPr/>
          <p:nvPr/>
        </p:nvSpPr>
        <p:spPr>
          <a:xfrm>
            <a:off x="5303520" y="5093207"/>
            <a:ext cx="566928" cy="566928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Fa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5252" y="5234940"/>
            <a:ext cx="283464" cy="2834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5093207"/>
            <a:ext cx="28803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4  DATA +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5852159"/>
            <a:ext cx="35204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Supabase PostgreSQL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Tasks • Messages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Status history</a:t>
            </a:r>
          </a:p>
        </p:txBody>
      </p:sp>
      <p:sp>
        <p:nvSpPr>
          <p:cNvPr id="34" name="Stack card 5"/>
          <p:cNvSpPr/>
          <p:nvPr/>
        </p:nvSpPr>
        <p:spPr>
          <a:xfrm>
            <a:off x="822960" y="726948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Icon circle"/>
          <p:cNvSpPr/>
          <p:nvPr/>
        </p:nvSpPr>
        <p:spPr>
          <a:xfrm>
            <a:off x="1051560" y="7470648"/>
            <a:ext cx="566928" cy="566928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FaCog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3292" y="7612379"/>
            <a:ext cx="283464" cy="2834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83080" y="7470648"/>
            <a:ext cx="28803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5  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8229600"/>
            <a:ext cx="35204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Node.js runtime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Server functions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Deployment and monitoring</a:t>
            </a:r>
          </a:p>
        </p:txBody>
      </p:sp>
      <p:sp>
        <p:nvSpPr>
          <p:cNvPr id="39" name="Stack card 6"/>
          <p:cNvSpPr/>
          <p:nvPr/>
        </p:nvSpPr>
        <p:spPr>
          <a:xfrm>
            <a:off x="5074920" y="726948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con circle"/>
          <p:cNvSpPr/>
          <p:nvPr/>
        </p:nvSpPr>
        <p:spPr>
          <a:xfrm>
            <a:off x="5303520" y="7470648"/>
            <a:ext cx="566928" cy="566928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FaShieldA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5252" y="7612379"/>
            <a:ext cx="283464" cy="2834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35040" y="7470648"/>
            <a:ext cx="28803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6  SECURITY + 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8229600"/>
            <a:ext cx="35204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Auth + RBAC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Database RLS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3A241A"/>
                </a:solidFill>
                <a:latin typeface="Calibri"/>
              </a:rPr>
              <a:t>Audit logs • Rate limits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1737360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732017"/>
                </a:solidFill>
                <a:latin typeface="Calibri"/>
              </a:rPr>
              <a:t>System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233172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8862B"/>
                </a:solidFill>
                <a:latin typeface="Calibri"/>
              </a:rPr>
              <a:t>Conversation → AI decision → auditable project status</a:t>
            </a:r>
          </a:p>
        </p:txBody>
      </p:sp>
      <p:sp>
        <p:nvSpPr>
          <p:cNvPr id="46" name="Actor 1"/>
          <p:cNvSpPr/>
          <p:nvPr/>
        </p:nvSpPr>
        <p:spPr>
          <a:xfrm>
            <a:off x="9509760" y="2834640"/>
            <a:ext cx="2240280" cy="868680"/>
          </a:xfrm>
          <a:prstGeom prst="roundRect">
            <a:avLst>
              <a:gd name="adj" fmla="val 8000"/>
            </a:avLst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283464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Team member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1841480" y="3090672"/>
            <a:ext cx="434340" cy="365760"/>
          </a:xfrm>
          <a:prstGeom prst="rightArrow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Actor 2"/>
          <p:cNvSpPr/>
          <p:nvPr/>
        </p:nvSpPr>
        <p:spPr>
          <a:xfrm>
            <a:off x="12367260" y="2834640"/>
            <a:ext cx="2240280" cy="868680"/>
          </a:xfrm>
          <a:prstGeom prst="roundRect">
            <a:avLst>
              <a:gd name="adj" fmla="val 8000"/>
            </a:avLst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458700" y="283464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Telegram bot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4698980" y="3090672"/>
            <a:ext cx="434340" cy="365760"/>
          </a:xfrm>
          <a:prstGeom prst="rightArrow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Actor 3"/>
          <p:cNvSpPr/>
          <p:nvPr/>
        </p:nvSpPr>
        <p:spPr>
          <a:xfrm>
            <a:off x="15224759" y="2834640"/>
            <a:ext cx="2240280" cy="868680"/>
          </a:xfrm>
          <a:prstGeom prst="roundRect">
            <a:avLst>
              <a:gd name="adj" fmla="val 8000"/>
            </a:avLst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316200" y="283464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Coordinator engine</a:t>
            </a:r>
          </a:p>
        </p:txBody>
      </p:sp>
      <p:sp>
        <p:nvSpPr>
          <p:cNvPr id="54" name="Layer 1"/>
          <p:cNvSpPr/>
          <p:nvPr/>
        </p:nvSpPr>
        <p:spPr>
          <a:xfrm>
            <a:off x="9509760" y="4023360"/>
            <a:ext cx="7955279" cy="8686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Layer number"/>
          <p:cNvSpPr/>
          <p:nvPr/>
        </p:nvSpPr>
        <p:spPr>
          <a:xfrm>
            <a:off x="9738360" y="4224528"/>
            <a:ext cx="512064" cy="512064"/>
          </a:xfrm>
          <a:prstGeom prst="ellipse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422452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023360"/>
            <a:ext cx="2514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Application 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030200" y="4023360"/>
            <a:ext cx="42976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Task board • Follow-up control • Dashboard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13304520" y="4919472"/>
            <a:ext cx="365760" cy="219456"/>
          </a:xfrm>
          <a:prstGeom prst="downArrow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Layer 2"/>
          <p:cNvSpPr/>
          <p:nvPr/>
        </p:nvSpPr>
        <p:spPr>
          <a:xfrm>
            <a:off x="9509760" y="5166360"/>
            <a:ext cx="7955279" cy="8686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Layer number"/>
          <p:cNvSpPr/>
          <p:nvPr/>
        </p:nvSpPr>
        <p:spPr>
          <a:xfrm>
            <a:off x="9738360" y="5367528"/>
            <a:ext cx="512064" cy="512064"/>
          </a:xfrm>
          <a:prstGeom prst="ellipse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36752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0" y="5166360"/>
            <a:ext cx="2514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AI decision layer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030200" y="5166360"/>
            <a:ext cx="42976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Classify reply</a:t>
            </a:r>
          </a:p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Completed? • Blocked? • Clarify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13304520" y="6062472"/>
            <a:ext cx="365760" cy="219456"/>
          </a:xfrm>
          <a:prstGeom prst="downArrow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Layer 3"/>
          <p:cNvSpPr/>
          <p:nvPr/>
        </p:nvSpPr>
        <p:spPr>
          <a:xfrm>
            <a:off x="9509760" y="6309360"/>
            <a:ext cx="7955279" cy="8686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Layer number"/>
          <p:cNvSpPr/>
          <p:nvPr/>
        </p:nvSpPr>
        <p:spPr>
          <a:xfrm>
            <a:off x="9738360" y="6510528"/>
            <a:ext cx="512064" cy="512064"/>
          </a:xfrm>
          <a:prstGeom prst="ellipse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38360" y="651052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6309360"/>
            <a:ext cx="2514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Data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030200" y="6309360"/>
            <a:ext cx="42976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Projects • Tasks • Messages • Status history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13304520" y="7205472"/>
            <a:ext cx="365760" cy="219456"/>
          </a:xfrm>
          <a:prstGeom prst="downArrow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Layer 4"/>
          <p:cNvSpPr/>
          <p:nvPr/>
        </p:nvSpPr>
        <p:spPr>
          <a:xfrm>
            <a:off x="9509760" y="7452360"/>
            <a:ext cx="7955279" cy="8686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Layer number"/>
          <p:cNvSpPr/>
          <p:nvPr/>
        </p:nvSpPr>
        <p:spPr>
          <a:xfrm>
            <a:off x="9738360" y="7653528"/>
            <a:ext cx="512064" cy="512064"/>
          </a:xfrm>
          <a:prstGeom prst="ellipse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38360" y="765352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7452360"/>
            <a:ext cx="2514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732017"/>
                </a:solidFill>
                <a:latin typeface="Calibri"/>
              </a:rPr>
              <a:t>Output layer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030200" y="7452360"/>
            <a:ext cx="42976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Completed • Blocked with reason</a:t>
            </a:r>
          </a:p>
          <a:p>
            <a:pPr algn="l"/>
            <a:r>
              <a:rPr sz="1800" b="0" i="0">
                <a:solidFill>
                  <a:srgbClr val="3A241A"/>
                </a:solidFill>
                <a:latin typeface="Calibri"/>
              </a:rPr>
              <a:t>Live refresh</a:t>
            </a:r>
          </a:p>
        </p:txBody>
      </p:sp>
      <p:sp>
        <p:nvSpPr>
          <p:cNvPr id="77" name="Safe workflow strip"/>
          <p:cNvSpPr/>
          <p:nvPr/>
        </p:nvSpPr>
        <p:spPr>
          <a:xfrm>
            <a:off x="9509760" y="8503919"/>
            <a:ext cx="7955279" cy="868680"/>
          </a:xfrm>
          <a:prstGeom prst="roundRect">
            <a:avLst>
              <a:gd name="adj" fmla="val 8000"/>
            </a:avLst>
          </a:prstGeom>
          <a:solidFill>
            <a:srgbClr val="73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38360" y="8503919"/>
            <a:ext cx="74980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Safe workflow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original message saved → status rule applied → dashboard updated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sp>
          <p:nvSpPr>
            <p:cNvPr id="3" name="object 3"/>
            <p:cNvSpPr/>
            <p:nvPr/>
          </p:nvSpPr>
          <p:spPr>
            <a:xfrm>
              <a:off x="57597" y="0"/>
              <a:ext cx="18230850" cy="10287000"/>
            </a:xfrm>
            <a:custGeom>
              <a:avLst/>
              <a:gdLst/>
              <a:ahLst/>
              <a:cxnLst/>
              <a:rect l="l" t="t" r="r" b="b"/>
              <a:pathLst>
                <a:path w="18230850" h="10287000">
                  <a:moveTo>
                    <a:pt x="0" y="10287000"/>
                  </a:moveTo>
                  <a:lnTo>
                    <a:pt x="18230402" y="10287000"/>
                  </a:lnTo>
                  <a:lnTo>
                    <a:pt x="18230402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76" y="9892862"/>
              <a:ext cx="18281650" cy="394335"/>
            </a:xfrm>
            <a:custGeom>
              <a:avLst/>
              <a:gdLst/>
              <a:ahLst/>
              <a:cxnLst/>
              <a:rect l="l" t="t" r="r" b="b"/>
              <a:pathLst>
                <a:path w="18281650" h="394334">
                  <a:moveTo>
                    <a:pt x="18281232" y="394124"/>
                  </a:moveTo>
                  <a:lnTo>
                    <a:pt x="0" y="394124"/>
                  </a:lnTo>
                  <a:lnTo>
                    <a:pt x="0" y="0"/>
                  </a:lnTo>
                  <a:lnTo>
                    <a:pt x="18281232" y="0"/>
                  </a:lnTo>
                  <a:lnTo>
                    <a:pt x="18281232" y="394124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6" y="0"/>
              <a:ext cx="18281223" cy="98928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8397"/>
              <a:ext cx="18288009" cy="15247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14797" y="9696991"/>
              <a:ext cx="1274467" cy="388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88282" y="141729"/>
              <a:ext cx="3648059" cy="1219198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286000" y="416997"/>
            <a:ext cx="11887200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algn="ctr">
              <a:lnSpc>
                <a:spcPct val="100000"/>
              </a:lnSpc>
              <a:spcBef>
                <a:spcPts val="125"/>
              </a:spcBef>
            </a:pPr>
            <a:r>
              <a:rPr spc="260" dirty="0">
                <a:solidFill>
                  <a:srgbClr val="FFFF00"/>
                </a:solidFill>
                <a:latin typeface="Baskerville Old Face" panose="02020602080505020303" pitchFamily="18" charset="0"/>
              </a:rPr>
              <a:t>IMPACT AND BENEFITS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75223" y="10001012"/>
            <a:ext cx="365760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0"/>
              </a:lnSpc>
            </a:pPr>
            <a:r>
              <a:rPr sz="1600" b="1" spc="150" dirty="0">
                <a:latin typeface="Calibri"/>
                <a:cs typeface="Calibri"/>
              </a:rPr>
              <a:t>REVENANTS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52018" y="9976350"/>
            <a:ext cx="3962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150" b="1" spc="340" dirty="0">
                <a:latin typeface="Calibri"/>
                <a:cs typeface="Calibri"/>
              </a:rPr>
              <a:t>04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1664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1">
                <a:solidFill>
                  <a:srgbClr val="732017"/>
                </a:solidFill>
                <a:latin typeface="Calibri"/>
              </a:rPr>
              <a:t>Less chasing, earlier visibility, and evidence behind every status change</a:t>
            </a:r>
          </a:p>
        </p:txBody>
      </p:sp>
      <p:sp>
        <p:nvSpPr>
          <p:cNvPr id="14" name="Impact card 1"/>
          <p:cNvSpPr/>
          <p:nvPr/>
        </p:nvSpPr>
        <p:spPr>
          <a:xfrm>
            <a:off x="822960" y="2606040"/>
            <a:ext cx="8183879" cy="31089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circle"/>
          <p:cNvSpPr/>
          <p:nvPr/>
        </p:nvSpPr>
        <p:spPr>
          <a:xfrm>
            <a:off x="1143000" y="2862072"/>
            <a:ext cx="777240" cy="77724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a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7310" y="3056382"/>
            <a:ext cx="388620" cy="3886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48840" y="2862072"/>
            <a:ext cx="662939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732017"/>
                </a:solidFill>
                <a:latin typeface="Calibri"/>
              </a:rPr>
              <a:t>For 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86200"/>
            <a:ext cx="74523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Reply naturally in Telegram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Get focused, task-specific reminders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Clarification requested when a message is vague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No second tool to update for every task</a:t>
            </a:r>
          </a:p>
        </p:txBody>
      </p:sp>
      <p:sp>
        <p:nvSpPr>
          <p:cNvPr id="19" name="Impact card 2"/>
          <p:cNvSpPr/>
          <p:nvPr/>
        </p:nvSpPr>
        <p:spPr>
          <a:xfrm>
            <a:off x="9281160" y="2606040"/>
            <a:ext cx="8183879" cy="31089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circle"/>
          <p:cNvSpPr/>
          <p:nvPr/>
        </p:nvSpPr>
        <p:spPr>
          <a:xfrm>
            <a:off x="9601200" y="2862072"/>
            <a:ext cx="777240" cy="77724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UserTi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5510" y="3056382"/>
            <a:ext cx="388620" cy="3886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07040" y="2862072"/>
            <a:ext cx="662939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732017"/>
                </a:solidFill>
                <a:latin typeface="Calibri"/>
              </a:rPr>
              <a:t>For Project Managers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886200"/>
            <a:ext cx="74523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Monitor project health in real time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Spot delayed or blocked work earlier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One dashboard for task health and history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Review every status change with evidence</a:t>
            </a:r>
          </a:p>
        </p:txBody>
      </p:sp>
      <p:sp>
        <p:nvSpPr>
          <p:cNvPr id="24" name="Impact card 3"/>
          <p:cNvSpPr/>
          <p:nvPr/>
        </p:nvSpPr>
        <p:spPr>
          <a:xfrm>
            <a:off x="822960" y="5943600"/>
            <a:ext cx="8183879" cy="31089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 circle"/>
          <p:cNvSpPr/>
          <p:nvPr/>
        </p:nvSpPr>
        <p:spPr>
          <a:xfrm>
            <a:off x="1143000" y="6199632"/>
            <a:ext cx="777240" cy="77724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FaUnivers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7310" y="6393942"/>
            <a:ext cx="388620" cy="3886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48840" y="6199632"/>
            <a:ext cx="662939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732017"/>
                </a:solidFill>
                <a:latin typeface="Calibri"/>
              </a:rPr>
              <a:t>For Institutions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7223760"/>
            <a:ext cx="74523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Scalable workflow for student teams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Transparent, auditable project execution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Reusable coordination pattern across projects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Better evidence for reviews and reporting</a:t>
            </a:r>
          </a:p>
        </p:txBody>
      </p:sp>
      <p:sp>
        <p:nvSpPr>
          <p:cNvPr id="29" name="Impact card 4"/>
          <p:cNvSpPr/>
          <p:nvPr/>
        </p:nvSpPr>
        <p:spPr>
          <a:xfrm>
            <a:off x="9281160" y="5943600"/>
            <a:ext cx="8183879" cy="31089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con circle"/>
          <p:cNvSpPr/>
          <p:nvPr/>
        </p:nvSpPr>
        <p:spPr>
          <a:xfrm>
            <a:off x="9601200" y="6199632"/>
            <a:ext cx="777240" cy="77724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FaCog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5510" y="6393942"/>
            <a:ext cx="388620" cy="3886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07040" y="6199632"/>
            <a:ext cx="662939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732017"/>
                </a:solidFill>
                <a:latin typeface="Calibri"/>
              </a:rPr>
              <a:t>Technical Advantages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7223760"/>
            <a:ext cx="74523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Conversation-first task coordination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Claude-based reply classification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Supabase PostgreSQL with status history</a:t>
            </a:r>
          </a:p>
          <a:p>
            <a:pPr algn="l" marL="347472" indent="-347472">
              <a:spcAft>
                <a:spcPts val="6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Telegram webhooks, RBAC and database RLS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4DF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76" y="9892862"/>
              <a:ext cx="18281650" cy="394335"/>
            </a:xfrm>
            <a:custGeom>
              <a:avLst/>
              <a:gdLst/>
              <a:ahLst/>
              <a:cxnLst/>
              <a:rect l="l" t="t" r="r" b="b"/>
              <a:pathLst>
                <a:path w="18281650" h="394334">
                  <a:moveTo>
                    <a:pt x="18281232" y="394124"/>
                  </a:moveTo>
                  <a:lnTo>
                    <a:pt x="0" y="394124"/>
                  </a:lnTo>
                  <a:lnTo>
                    <a:pt x="0" y="0"/>
                  </a:lnTo>
                  <a:lnTo>
                    <a:pt x="18281232" y="0"/>
                  </a:lnTo>
                  <a:lnTo>
                    <a:pt x="18281232" y="394124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6" y="0"/>
              <a:ext cx="18281223" cy="98928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397"/>
              <a:ext cx="18288009" cy="15247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4797" y="9696991"/>
              <a:ext cx="1274467" cy="388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8282" y="141729"/>
              <a:ext cx="3648059" cy="1219198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286000" y="416997"/>
            <a:ext cx="11887200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algn="ctr">
              <a:lnSpc>
                <a:spcPct val="100000"/>
              </a:lnSpc>
              <a:spcBef>
                <a:spcPts val="125"/>
              </a:spcBef>
            </a:pPr>
            <a:r>
              <a:rPr spc="350" dirty="0">
                <a:solidFill>
                  <a:srgbClr val="FFFF00"/>
                </a:solidFill>
                <a:latin typeface="Baskerville Old Face" panose="02020602080505020303" pitchFamily="18" charset="0"/>
              </a:rPr>
              <a:t>FUTURE SCOPE &amp; CHALLENGES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352018" y="9976350"/>
            <a:ext cx="3962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0"/>
              </a:lnSpc>
            </a:pPr>
            <a:r>
              <a:rPr sz="2150" b="1" spc="340" dirty="0">
                <a:latin typeface="Calibri"/>
                <a:cs typeface="Calibri"/>
              </a:rPr>
              <a:t>05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5223" y="10001012"/>
            <a:ext cx="365760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0"/>
              </a:lnSpc>
            </a:pPr>
            <a:r>
              <a:rPr sz="1600" b="1" spc="150" dirty="0">
                <a:latin typeface="Calibri"/>
                <a:cs typeface="Calibri"/>
              </a:rPr>
              <a:t>REVENANTS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Icon circle"/>
          <p:cNvSpPr/>
          <p:nvPr/>
        </p:nvSpPr>
        <p:spPr>
          <a:xfrm>
            <a:off x="822960" y="1709928"/>
            <a:ext cx="640080" cy="64008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aExclamationTrian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186994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5920" y="1737360"/>
            <a:ext cx="73609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732017"/>
                </a:solidFill>
                <a:latin typeface="Calibri"/>
              </a:rPr>
              <a:t>Current challenges</a:t>
            </a:r>
          </a:p>
        </p:txBody>
      </p:sp>
      <p:sp>
        <p:nvSpPr>
          <p:cNvPr id="16" name="Icon circle"/>
          <p:cNvSpPr/>
          <p:nvPr/>
        </p:nvSpPr>
        <p:spPr>
          <a:xfrm>
            <a:off x="9281160" y="1709928"/>
            <a:ext cx="640080" cy="640080"/>
          </a:xfrm>
          <a:prstGeom prst="ellipse">
            <a:avLst/>
          </a:prstGeom>
          <a:solidFill>
            <a:srgbClr val="732017"/>
          </a:solidFill>
          <a:ln w="2540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a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1180" y="1869948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04120" y="1737360"/>
            <a:ext cx="73609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732017"/>
                </a:solidFill>
                <a:latin typeface="Calibri"/>
              </a:rPr>
              <a:t>Next improvements</a:t>
            </a:r>
          </a:p>
        </p:txBody>
      </p:sp>
      <p:sp>
        <p:nvSpPr>
          <p:cNvPr id="19" name="Challenge 1"/>
          <p:cNvSpPr/>
          <p:nvPr/>
        </p:nvSpPr>
        <p:spPr>
          <a:xfrm>
            <a:off x="822960" y="2606040"/>
            <a:ext cx="8183879" cy="1554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allenge number"/>
          <p:cNvSpPr/>
          <p:nvPr/>
        </p:nvSpPr>
        <p:spPr>
          <a:xfrm>
            <a:off x="1097280" y="3063240"/>
            <a:ext cx="640080" cy="640080"/>
          </a:xfrm>
          <a:prstGeom prst="ellipse">
            <a:avLst/>
          </a:prstGeom>
          <a:solidFill>
            <a:srgbClr val="F6E6C8"/>
          </a:solidFill>
          <a:ln w="1905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063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732017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78892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732017"/>
                </a:solidFill>
                <a:latin typeface="Calibri"/>
              </a:rPr>
              <a:t>Credential-dependent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264408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3A241A"/>
                </a:solidFill>
                <a:latin typeface="Calibri"/>
              </a:rPr>
              <a:t>Live tests need Supabase, Telegram and Claude credentials</a:t>
            </a:r>
          </a:p>
        </p:txBody>
      </p:sp>
      <p:sp>
        <p:nvSpPr>
          <p:cNvPr id="24" name="Challenge 2"/>
          <p:cNvSpPr/>
          <p:nvPr/>
        </p:nvSpPr>
        <p:spPr>
          <a:xfrm>
            <a:off x="822960" y="4389120"/>
            <a:ext cx="8183879" cy="1554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hallenge number"/>
          <p:cNvSpPr/>
          <p:nvPr/>
        </p:nvSpPr>
        <p:spPr>
          <a:xfrm>
            <a:off x="1097280" y="4846320"/>
            <a:ext cx="640080" cy="640080"/>
          </a:xfrm>
          <a:prstGeom prst="ellipse">
            <a:avLst/>
          </a:prstGeom>
          <a:solidFill>
            <a:srgbClr val="F6E6C8"/>
          </a:solidFill>
          <a:ln w="1905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732017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57200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732017"/>
                </a:solidFill>
                <a:latin typeface="Calibri"/>
              </a:rPr>
              <a:t>Security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047488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3A241A"/>
                </a:solidFill>
                <a:latin typeface="Calibri"/>
              </a:rPr>
              <a:t>Webhook security, authentication and database RLS need deployment validation</a:t>
            </a:r>
          </a:p>
        </p:txBody>
      </p:sp>
      <p:sp>
        <p:nvSpPr>
          <p:cNvPr id="29" name="Challenge 3"/>
          <p:cNvSpPr/>
          <p:nvPr/>
        </p:nvSpPr>
        <p:spPr>
          <a:xfrm>
            <a:off x="822960" y="6172200"/>
            <a:ext cx="8183879" cy="1554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Challenge number"/>
          <p:cNvSpPr/>
          <p:nvPr/>
        </p:nvSpPr>
        <p:spPr>
          <a:xfrm>
            <a:off x="1097280" y="6629400"/>
            <a:ext cx="640080" cy="640080"/>
          </a:xfrm>
          <a:prstGeom prst="ellipse">
            <a:avLst/>
          </a:prstGeom>
          <a:solidFill>
            <a:srgbClr val="F6E6C8"/>
          </a:solidFill>
          <a:ln w="1905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629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732017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635508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732017"/>
                </a:solidFill>
                <a:latin typeface="Calibri"/>
              </a:rPr>
              <a:t>Conservative AI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6830568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3A241A"/>
                </a:solidFill>
                <a:latin typeface="Calibri"/>
              </a:rPr>
              <a:t>Responses must stay careful when context is incomplete</a:t>
            </a:r>
          </a:p>
        </p:txBody>
      </p:sp>
      <p:sp>
        <p:nvSpPr>
          <p:cNvPr id="34" name="Challenge 4"/>
          <p:cNvSpPr/>
          <p:nvPr/>
        </p:nvSpPr>
        <p:spPr>
          <a:xfrm>
            <a:off x="822960" y="7955279"/>
            <a:ext cx="8183879" cy="1554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Challenge number"/>
          <p:cNvSpPr/>
          <p:nvPr/>
        </p:nvSpPr>
        <p:spPr>
          <a:xfrm>
            <a:off x="1097280" y="8412480"/>
            <a:ext cx="640080" cy="640080"/>
          </a:xfrm>
          <a:prstGeom prst="ellipse">
            <a:avLst/>
          </a:prstGeom>
          <a:solidFill>
            <a:srgbClr val="F6E6C8"/>
          </a:solidFill>
          <a:ln w="19050">
            <a:solidFill>
              <a:srgbClr val="B886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8412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732017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8138159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732017"/>
                </a:solidFill>
                <a:latin typeface="Calibri"/>
              </a:rPr>
              <a:t>Production readiness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8613648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3A241A"/>
                </a:solidFill>
                <a:latin typeface="Calibri"/>
              </a:rPr>
              <a:t>Monitoring and rate limits need continued testing</a:t>
            </a:r>
          </a:p>
        </p:txBody>
      </p:sp>
      <p:sp>
        <p:nvSpPr>
          <p:cNvPr id="39" name="Roadmap PHASE 1"/>
          <p:cNvSpPr/>
          <p:nvPr/>
        </p:nvSpPr>
        <p:spPr>
          <a:xfrm>
            <a:off x="9281160" y="2606040"/>
            <a:ext cx="8183879" cy="22402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hase chip"/>
          <p:cNvSpPr/>
          <p:nvPr/>
        </p:nvSpPr>
        <p:spPr>
          <a:xfrm>
            <a:off x="9555480" y="28803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3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2880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2880360"/>
            <a:ext cx="59893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732017"/>
                </a:solidFill>
                <a:latin typeface="Calibri"/>
              </a:rPr>
              <a:t>Smarter risk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3520440"/>
            <a:ext cx="745235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7472" indent="-347472">
              <a:spcAft>
                <a:spcPts val="4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Dependency and critical-path risk detection</a:t>
            </a:r>
          </a:p>
          <a:p>
            <a:pPr algn="l" marL="347472" indent="-347472">
              <a:spcAft>
                <a:spcPts val="4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Escalation for repeatedly blocked tasks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13190220" y="4846320"/>
            <a:ext cx="365760" cy="228600"/>
          </a:xfrm>
          <a:prstGeom prst="downArrow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admap PHASE 2"/>
          <p:cNvSpPr/>
          <p:nvPr/>
        </p:nvSpPr>
        <p:spPr>
          <a:xfrm>
            <a:off x="9281160" y="5074920"/>
            <a:ext cx="8183879" cy="17830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hase chip"/>
          <p:cNvSpPr/>
          <p:nvPr/>
        </p:nvSpPr>
        <p:spPr>
          <a:xfrm>
            <a:off x="9555480" y="5349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3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55480" y="53492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5349240"/>
            <a:ext cx="59893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732017"/>
                </a:solidFill>
                <a:latin typeface="Calibri"/>
              </a:rPr>
              <a:t>Project-health reporting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5989320"/>
            <a:ext cx="7452359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7472" indent="-347472">
              <a:spcAft>
                <a:spcPts val="4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Weekly project-health summaries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13190220" y="6858000"/>
            <a:ext cx="365760" cy="228600"/>
          </a:xfrm>
          <a:prstGeom prst="downArrow">
            <a:avLst/>
          </a:prstGeom>
          <a:solidFill>
            <a:srgbClr val="B886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admap PHASE 3"/>
          <p:cNvSpPr/>
          <p:nvPr/>
        </p:nvSpPr>
        <p:spPr>
          <a:xfrm>
            <a:off x="9281160" y="7086600"/>
            <a:ext cx="8183879" cy="22402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 w="19050">
            <a:solidFill>
              <a:srgbClr val="D2A9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hase chip"/>
          <p:cNvSpPr/>
          <p:nvPr/>
        </p:nvSpPr>
        <p:spPr>
          <a:xfrm>
            <a:off x="9555480" y="7360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3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7360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7360920"/>
            <a:ext cx="59893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732017"/>
                </a:solidFill>
                <a:latin typeface="Calibri"/>
              </a:rPr>
              <a:t>More ways to reply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8001000"/>
            <a:ext cx="745235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7472" indent="-347472">
              <a:spcAft>
                <a:spcPts val="4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Voice-note transcription</a:t>
            </a:r>
          </a:p>
          <a:p>
            <a:pPr algn="l" marL="347472" indent="-347472">
              <a:spcAft>
                <a:spcPts val="400"/>
              </a:spcAft>
              <a:buClr>
                <a:srgbClr val="B8862B"/>
              </a:buClr>
              <a:buFont typeface="Arial"/>
              <a:buChar char="●"/>
            </a:pPr>
            <a:r>
              <a:rPr sz="2100" b="0" i="0">
                <a:solidFill>
                  <a:srgbClr val="3A241A"/>
                </a:solidFill>
                <a:latin typeface="Calibri"/>
              </a:rPr>
              <a:t>Discord and WhatsApp Business connectors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</TotalTime>
  <Words>195</Words>
  <Application>Microsoft Office PowerPoint</Application>
  <PresentationFormat>Custom</PresentationFormat>
  <Paragraphs>43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Baskerville Old Face</vt:lpstr>
      <vt:lpstr>Book Antiqua</vt:lpstr>
      <vt:lpstr>Calibri</vt:lpstr>
      <vt:lpstr>Century</vt:lpstr>
      <vt:lpstr>Office Theme</vt:lpstr>
      <vt:lpstr>ReVenants</vt:lpstr>
      <vt:lpstr>Idea / Solution / Prototype</vt:lpstr>
      <vt:lpstr>TECHNICAL APPROACH</vt:lpstr>
      <vt:lpstr>IMPACT AND BENEFITS</vt:lpstr>
      <vt:lpstr>FUTURE SCOPE &amp; CHALLANGES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APPROACH</dc:title>
  <dc:creator>Mohit Mulik</dc:creator>
  <cp:keywords>DAHXFcyGuUM,BAFwTAgcYmo</cp:keywords>
  <cp:lastModifiedBy>Ratnadipkakade3@gmail.com</cp:lastModifiedBy>
  <cp:revision>4</cp:revision>
  <dcterms:created xsi:type="dcterms:W3CDTF">2026-10-15T21:49:39Z</dcterms:created>
  <dcterms:modified xsi:type="dcterms:W3CDTF">2026-10-17T07:22:33Z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2026-10-15T00:00:00Z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2026-10-15T00:00:00Z</vt:filetime>
  </property>
  <property fmtid="{D5CDD505-2E9C-101B-9397-08002B2CF9AE}" pid="6" name="Producer">
    <vt:lpwstr>iLovePDF</vt:lpwstr>
  </property>
</Properties>
</file>